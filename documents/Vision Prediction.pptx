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38" autoAdjust="0"/>
  </p:normalViewPr>
  <p:slideViewPr>
    <p:cSldViewPr snapToGrid="0" showGuides="1">
      <p:cViewPr>
        <p:scale>
          <a:sx n="75" d="100"/>
          <a:sy n="75" d="100"/>
        </p:scale>
        <p:origin x="169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51DB7-4302-2F27-CB65-55D7A1E81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173D10-C64C-AF76-23F3-0B2C660B6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9DF2FE-3E34-99B4-FE1D-FA1ECB35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957958-C680-8EC9-7918-B6BBAA0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4CEE05-394C-943C-5497-F6F2B9D8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10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8308B-27DE-A10E-F533-2A5F5B98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AC874E-A269-248F-7E07-431362806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06152E-76A8-DE5F-7B10-982D9B51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E0A62-0CE4-CD05-1956-E1781D70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A0ADC-CFD6-7900-68D3-F476F15F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709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DCBE0-8324-67E6-5964-0D127A52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877864-D619-C3AA-B749-8CEFE79F6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7759F-559E-112E-23D2-B58E424B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65BEAA-4D95-FAEC-1B04-CD5C242B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96F285-E925-4B2E-43D1-6DAB76AB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88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FA010-0395-7889-DCAB-63150E9F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A12BC-69A4-67C9-9E76-743315E24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925882-ACFB-CCF4-5BCE-ECA7E0F75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5216DE-6F34-298C-6F1A-F43CBAAF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D77218-CBE6-E820-D34E-009B358F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4F5590-0202-93C0-3362-4191F9B4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00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3511C-C35F-43E1-2BCB-9025E441A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329BEB-50D6-C041-D41F-DD5343A11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5C8D04-5689-B9D6-1597-721AC3310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8B4E728-763F-0C0E-425E-9B69B66F5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BB4692-93B8-9A3E-32FB-38AC2181F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A5DE0F-AD65-FFA7-8B56-B37F20FE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D43306-3A51-E539-017F-2C84C4967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E68BA2-8BDE-9ECF-23C5-34F7DF6A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23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C3AE2-6CEC-8755-C8AD-9D44015F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34F1321-B262-360D-9D2C-392D8707A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B084B8-C663-37F1-1A5D-28FCB989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87A63A-93F6-27E9-FDF8-3FB0DF00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77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08FF1D-E37B-8309-E350-C244A2DA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330122-5706-2EF5-C422-1EDBCCD0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503B43-4353-349F-6BAC-75F4B6DA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48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7B626-ED53-5124-B647-C4872F21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427134-75FA-5FF3-A956-73E094E9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69D7E7-F1E9-2384-79AF-8DA0D629E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F75ED1-2B82-2C1B-208C-B67F2A94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5BC335-26B6-A071-A26B-CC09C521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6A7153-E665-DD7A-E0B7-96DF4F81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0BAC1-8201-6D44-EFD7-AE79BE36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692727-E86C-6501-993B-752293974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7B9897-28D9-872C-6DB3-296F6E27A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D3DBAC-369C-1BCA-D097-3B6BC8EC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948C6A-A9BE-D0D7-54D2-4B61731C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FC1417-BC37-E3BA-FDE8-F1783E5A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35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5FCE7-73CE-A1CC-5F7D-AB8183FA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CD4921-43D8-D8CB-307C-40B901FAF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C6AB68-93C0-3159-62A6-0A70FFC0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AED2E4-0199-BB4A-E23B-C49B53B4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198BC0-6A34-8C7B-25C9-2D870E48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085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5F4D77-D194-A2EE-9A94-B23E1F0D2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37D24E-1C45-2B05-6116-16768CA8B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E551BC-75F8-16FA-1577-24447EB6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C8693F-6ADF-DC2D-BB63-0F655418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B7C692-6946-207E-88D1-44C8EEF9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86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35AEB9C-0A11-53F0-B7F4-E9CE4B6E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6CA507-128E-74D8-A1E3-9407E76E1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18DBF4-A556-6BCE-BB1F-29339B06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59B17-985A-46E5-9123-15E7B049CD92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9853D8-8AAA-FA24-C9E3-7CEACA190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8610E7-D555-516D-D2E7-E6A321497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C0FBA-5E87-4EE6-A892-C129A2DA93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421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FDD584-6C4D-867B-B90B-32F03F2E6A30}"/>
              </a:ext>
            </a:extLst>
          </p:cNvPr>
          <p:cNvSpPr txBox="1"/>
          <p:nvPr/>
        </p:nvSpPr>
        <p:spPr>
          <a:xfrm>
            <a:off x="286410" y="231618"/>
            <a:ext cx="2057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Vision Prediction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4365F-4043-757D-E44F-853EF1FDC786}"/>
              </a:ext>
            </a:extLst>
          </p:cNvPr>
          <p:cNvSpPr txBox="1"/>
          <p:nvPr/>
        </p:nvSpPr>
        <p:spPr>
          <a:xfrm>
            <a:off x="954858" y="854798"/>
            <a:ext cx="3107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Prediction </a:t>
            </a:r>
            <a:r>
              <a:rPr lang="ko-KR" altLang="en-US" b="1" dirty="0"/>
              <a:t>→ </a:t>
            </a:r>
            <a:r>
              <a:rPr lang="en-US" altLang="ko-KR" b="1" dirty="0"/>
              <a:t>Reasoning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A56A7-B04E-02DA-65E2-376E0E82BE92}"/>
              </a:ext>
            </a:extLst>
          </p:cNvPr>
          <p:cNvSpPr txBox="1"/>
          <p:nvPr/>
        </p:nvSpPr>
        <p:spPr>
          <a:xfrm>
            <a:off x="1052937" y="3533115"/>
            <a:ext cx="3807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단일 결과 → 불확실성</a:t>
            </a:r>
            <a:r>
              <a:rPr lang="en-US" altLang="ko-KR" b="1" dirty="0"/>
              <a:t>/</a:t>
            </a:r>
            <a:r>
              <a:rPr lang="ko-KR" altLang="en-US" b="1" dirty="0"/>
              <a:t>다중가설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341B0-6AA9-ABDB-5A9F-BA03AE182FA5}"/>
              </a:ext>
            </a:extLst>
          </p:cNvPr>
          <p:cNvSpPr txBox="1"/>
          <p:nvPr/>
        </p:nvSpPr>
        <p:spPr>
          <a:xfrm>
            <a:off x="1961543" y="1433436"/>
            <a:ext cx="1378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Img</a:t>
            </a:r>
            <a:r>
              <a:rPr lang="en-US" altLang="ko-KR" sz="1200" dirty="0"/>
              <a:t> </a:t>
            </a:r>
            <a:r>
              <a:rPr lang="ko-KR" altLang="en-US" sz="1200" dirty="0"/>
              <a:t>→ 박스 뽑기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8957F-7B26-DB8E-742F-4BC4A1A48C20}"/>
              </a:ext>
            </a:extLst>
          </p:cNvPr>
          <p:cNvSpPr txBox="1"/>
          <p:nvPr/>
        </p:nvSpPr>
        <p:spPr>
          <a:xfrm>
            <a:off x="882671" y="2119990"/>
            <a:ext cx="3528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Img</a:t>
            </a:r>
            <a:r>
              <a:rPr lang="en-US" altLang="ko-KR" sz="1200" dirty="0"/>
              <a:t> </a:t>
            </a:r>
            <a:r>
              <a:rPr lang="ko-KR" altLang="en-US" sz="1200" dirty="0"/>
              <a:t>→ 이해 → 추론 → 위험도 판단 → 의사결정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ADA7C-4E80-07DC-8401-15A1CCFB1133}"/>
              </a:ext>
            </a:extLst>
          </p:cNvPr>
          <p:cNvSpPr txBox="1"/>
          <p:nvPr/>
        </p:nvSpPr>
        <p:spPr>
          <a:xfrm>
            <a:off x="1999658" y="4176636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객체 </a:t>
            </a:r>
            <a:r>
              <a:rPr lang="en-US" altLang="ko-KR" sz="1200" dirty="0"/>
              <a:t>1</a:t>
            </a:r>
            <a:r>
              <a:rPr lang="ko-KR" altLang="en-US" sz="1200" dirty="0"/>
              <a:t>개</a:t>
            </a:r>
            <a:r>
              <a:rPr lang="en-US" altLang="ko-KR" sz="1200" dirty="0"/>
              <a:t> </a:t>
            </a:r>
            <a:r>
              <a:rPr lang="ko-KR" altLang="en-US" sz="1200" dirty="0"/>
              <a:t>→ 박스 </a:t>
            </a:r>
            <a:r>
              <a:rPr lang="en-US" altLang="ko-KR" sz="1200" dirty="0"/>
              <a:t>1</a:t>
            </a:r>
            <a:r>
              <a:rPr lang="ko-KR" altLang="en-US" sz="1200" dirty="0"/>
              <a:t>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E0334-A5AE-86C6-B700-7B913C50FE41}"/>
              </a:ext>
            </a:extLst>
          </p:cNvPr>
          <p:cNvSpPr txBox="1"/>
          <p:nvPr/>
        </p:nvSpPr>
        <p:spPr>
          <a:xfrm>
            <a:off x="1970989" y="4790763"/>
            <a:ext cx="1686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여러 가능성 </a:t>
            </a:r>
            <a:r>
              <a:rPr lang="en-US" altLang="ko-KR" sz="1200" dirty="0"/>
              <a:t>(branch)</a:t>
            </a:r>
          </a:p>
          <a:p>
            <a:r>
              <a:rPr lang="en-US" altLang="ko-KR" sz="1200" dirty="0"/>
              <a:t>Uncertainly modeling</a:t>
            </a:r>
          </a:p>
          <a:p>
            <a:r>
              <a:rPr lang="en-US" altLang="ko-KR" sz="1200" dirty="0"/>
              <a:t>risk-aware prediction</a:t>
            </a:r>
            <a:endParaRPr lang="ko-KR" altLang="en-US" sz="12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12B01DE-23BE-4508-88AC-08876D2FA63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2646936" y="1710435"/>
            <a:ext cx="4059" cy="409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C9220ED-0E13-1809-8089-3D592AA99F4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2814329" y="4453635"/>
            <a:ext cx="6227" cy="337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785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EA44-965E-C65A-DAE3-0A5539E4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C512B2-6EBA-A391-693F-D7E3BBE388A7}"/>
              </a:ext>
            </a:extLst>
          </p:cNvPr>
          <p:cNvSpPr txBox="1"/>
          <p:nvPr/>
        </p:nvSpPr>
        <p:spPr>
          <a:xfrm>
            <a:off x="286410" y="231618"/>
            <a:ext cx="504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Safety-aware anticipatory perception model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E5B0D-05ED-10AD-0FE0-82773CA13C89}"/>
              </a:ext>
            </a:extLst>
          </p:cNvPr>
          <p:cNvSpPr txBox="1"/>
          <p:nvPr/>
        </p:nvSpPr>
        <p:spPr>
          <a:xfrm>
            <a:off x="845130" y="617054"/>
            <a:ext cx="3695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→ 미래를 고려한 안전 중심 인지 결과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9B128-2C13-074C-2423-6B92E5885C71}"/>
              </a:ext>
            </a:extLst>
          </p:cNvPr>
          <p:cNvSpPr txBox="1"/>
          <p:nvPr/>
        </p:nvSpPr>
        <p:spPr>
          <a:xfrm>
            <a:off x="704243" y="1471536"/>
            <a:ext cx="2942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(a) </a:t>
            </a:r>
            <a:r>
              <a:rPr lang="ko-KR" altLang="en-US" sz="1200" dirty="0"/>
              <a:t>객체 수준 출력 </a:t>
            </a:r>
            <a:r>
              <a:rPr lang="en-US" altLang="ko-KR" sz="1200" dirty="0"/>
              <a:t>(Object-level output)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F99C8-8C05-E5E5-9ACF-6ADA867F2BCD}"/>
              </a:ext>
            </a:extLst>
          </p:cNvPr>
          <p:cNvSpPr txBox="1"/>
          <p:nvPr/>
        </p:nvSpPr>
        <p:spPr>
          <a:xfrm>
            <a:off x="742971" y="3618590"/>
            <a:ext cx="2353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(b) </a:t>
            </a:r>
            <a:r>
              <a:rPr lang="ko-KR" altLang="en-US" sz="1200" dirty="0"/>
              <a:t>미래 </a:t>
            </a:r>
            <a:r>
              <a:rPr lang="en-US" altLang="ko-KR" sz="1200" dirty="0"/>
              <a:t>branch </a:t>
            </a:r>
            <a:r>
              <a:rPr lang="ko-KR" altLang="en-US" sz="1200" dirty="0"/>
              <a:t>기반 위험 분포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9D6F65-E75B-3358-9A03-1A25118881D7}"/>
              </a:ext>
            </a:extLst>
          </p:cNvPr>
          <p:cNvSpPr txBox="1"/>
          <p:nvPr/>
        </p:nvSpPr>
        <p:spPr>
          <a:xfrm>
            <a:off x="958871" y="5663290"/>
            <a:ext cx="1590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(c) </a:t>
            </a:r>
            <a:r>
              <a:rPr lang="ko-KR" altLang="en-US" sz="1200" dirty="0"/>
              <a:t>해석</a:t>
            </a:r>
            <a:r>
              <a:rPr lang="en-US" altLang="ko-KR" sz="1200" dirty="0"/>
              <a:t> </a:t>
            </a:r>
            <a:r>
              <a:rPr lang="ko-KR" altLang="en-US" sz="1200" dirty="0"/>
              <a:t>가능한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4F12D-DB81-C91B-1F88-36C5B911F07C}"/>
              </a:ext>
            </a:extLst>
          </p:cNvPr>
          <p:cNvSpPr txBox="1"/>
          <p:nvPr/>
        </p:nvSpPr>
        <p:spPr>
          <a:xfrm>
            <a:off x="1478943" y="1890636"/>
            <a:ext cx="184409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각 객체에 대해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Bounding box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Class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Detection confidence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Risk score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Risk type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Uncertainly score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94E927-4D62-3537-C05C-38185E4D5473}"/>
              </a:ext>
            </a:extLst>
          </p:cNvPr>
          <p:cNvSpPr txBox="1"/>
          <p:nvPr/>
        </p:nvSpPr>
        <p:spPr>
          <a:xfrm>
            <a:off x="4115463" y="1458836"/>
            <a:ext cx="3621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Output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​={</a:t>
            </a:r>
            <a:r>
              <a:rPr lang="en-US" altLang="ko-KR" sz="1200" dirty="0" err="1"/>
              <a:t>bbox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class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conf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risk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type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uncertainty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​}</a:t>
            </a:r>
            <a:endParaRPr lang="ko-KR" altLang="en-US" sz="12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161B721-C2DB-E22F-DC78-70271F7C6C29}"/>
              </a:ext>
            </a:extLst>
          </p:cNvPr>
          <p:cNvCxnSpPr>
            <a:stCxn id="7" idx="3"/>
          </p:cNvCxnSpPr>
          <p:nvPr/>
        </p:nvCxnSpPr>
        <p:spPr>
          <a:xfrm flipV="1">
            <a:off x="3647165" y="1607820"/>
            <a:ext cx="368575" cy="2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176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DDC24-650B-0BB5-55C9-DA171003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620FB0-F457-5FD5-76A9-7E652F8CCE6D}"/>
              </a:ext>
            </a:extLst>
          </p:cNvPr>
          <p:cNvSpPr txBox="1"/>
          <p:nvPr/>
        </p:nvSpPr>
        <p:spPr>
          <a:xfrm>
            <a:off x="286410" y="231618"/>
            <a:ext cx="504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Safety-aware anticipatory perception model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44EE8-6610-7ED2-44A4-4D71C147D776}"/>
              </a:ext>
            </a:extLst>
          </p:cNvPr>
          <p:cNvSpPr txBox="1"/>
          <p:nvPr/>
        </p:nvSpPr>
        <p:spPr>
          <a:xfrm>
            <a:off x="845130" y="617054"/>
            <a:ext cx="3695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→ 미래를 고려한 안전 중심 인지 결과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E7F0F-8A98-EF20-D960-8C32182A48F1}"/>
              </a:ext>
            </a:extLst>
          </p:cNvPr>
          <p:cNvSpPr txBox="1"/>
          <p:nvPr/>
        </p:nvSpPr>
        <p:spPr>
          <a:xfrm>
            <a:off x="704243" y="1471536"/>
            <a:ext cx="2942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(a) </a:t>
            </a:r>
            <a:r>
              <a:rPr lang="ko-KR" altLang="en-US" sz="1200" dirty="0"/>
              <a:t>객체 수준 출력 </a:t>
            </a:r>
            <a:r>
              <a:rPr lang="en-US" altLang="ko-KR" sz="1200" dirty="0"/>
              <a:t>(Object-level output)</a:t>
            </a:r>
            <a:endParaRPr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10873-F5AD-138E-8159-AD951ACD2121}"/>
              </a:ext>
            </a:extLst>
          </p:cNvPr>
          <p:cNvSpPr txBox="1"/>
          <p:nvPr/>
        </p:nvSpPr>
        <p:spPr>
          <a:xfrm>
            <a:off x="1478943" y="1890636"/>
            <a:ext cx="184409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각 객체에 대해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Bounding box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Class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Detection confidence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Risk score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Risk type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Uncertainly score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0A4B70-8AAB-2955-F512-10D9D331DF7A}"/>
              </a:ext>
            </a:extLst>
          </p:cNvPr>
          <p:cNvSpPr txBox="1"/>
          <p:nvPr/>
        </p:nvSpPr>
        <p:spPr>
          <a:xfrm>
            <a:off x="4115463" y="1458836"/>
            <a:ext cx="3621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Output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​={</a:t>
            </a:r>
            <a:r>
              <a:rPr lang="en-US" altLang="ko-KR" sz="1200" dirty="0" err="1"/>
              <a:t>bbox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class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conf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risk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type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​,</a:t>
            </a:r>
            <a:r>
              <a:rPr lang="en-US" altLang="ko-KR" sz="1200" dirty="0" err="1"/>
              <a:t>uncertainty</a:t>
            </a:r>
            <a:r>
              <a:rPr lang="en-US" altLang="ko-KR" sz="1200" baseline="-25000" dirty="0" err="1"/>
              <a:t>i</a:t>
            </a:r>
            <a:r>
              <a:rPr lang="en-US" altLang="ko-KR" sz="1200" dirty="0"/>
              <a:t>​}</a:t>
            </a:r>
            <a:endParaRPr lang="ko-KR" altLang="en-US" sz="12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D339BEA-854C-0B1B-7048-681CE3275760}"/>
              </a:ext>
            </a:extLst>
          </p:cNvPr>
          <p:cNvCxnSpPr>
            <a:stCxn id="7" idx="3"/>
          </p:cNvCxnSpPr>
          <p:nvPr/>
        </p:nvCxnSpPr>
        <p:spPr>
          <a:xfrm flipV="1">
            <a:off x="3647165" y="1607820"/>
            <a:ext cx="368575" cy="2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2E44CB58-4CC3-1E14-605D-56B57359E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791" y="957262"/>
            <a:ext cx="32004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79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74433-9C69-5B28-892F-4494E7EE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068B6F-925F-C8CA-2F85-AF38D0E3F2A2}"/>
              </a:ext>
            </a:extLst>
          </p:cNvPr>
          <p:cNvSpPr txBox="1"/>
          <p:nvPr/>
        </p:nvSpPr>
        <p:spPr>
          <a:xfrm>
            <a:off x="286410" y="231618"/>
            <a:ext cx="504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Safety-aware anticipatory perception model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18D5B-C048-E40E-F52C-9B711A57FF2A}"/>
              </a:ext>
            </a:extLst>
          </p:cNvPr>
          <p:cNvSpPr txBox="1"/>
          <p:nvPr/>
        </p:nvSpPr>
        <p:spPr>
          <a:xfrm>
            <a:off x="845130" y="617054"/>
            <a:ext cx="3695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→ 미래를 고려한 안전 중심 인지 결과</a:t>
            </a:r>
            <a:endParaRPr lang="ko-KR" alt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BB3443-262D-44BB-CB18-C3E757F42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460"/>
          <a:stretch>
            <a:fillRect/>
          </a:stretch>
        </p:blipFill>
        <p:spPr>
          <a:xfrm>
            <a:off x="765463" y="1883353"/>
            <a:ext cx="3200400" cy="12131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9B98C0-B57D-82F1-6C56-2AFEEA386025}"/>
              </a:ext>
            </a:extLst>
          </p:cNvPr>
          <p:cNvSpPr txBox="1"/>
          <p:nvPr/>
        </p:nvSpPr>
        <p:spPr>
          <a:xfrm>
            <a:off x="4055052" y="2149871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input</a:t>
            </a:r>
            <a:r>
              <a:rPr lang="ko-KR" altLang="en-US" dirty="0"/>
              <a:t> </a:t>
            </a:r>
            <a:r>
              <a:rPr lang="ko-KR" altLang="en-US" dirty="0" err="1"/>
              <a:t>video</a:t>
            </a:r>
            <a:r>
              <a:rPr lang="ko-KR" altLang="en-US" dirty="0"/>
              <a:t> </a:t>
            </a:r>
            <a:r>
              <a:rPr lang="ko-KR" altLang="en-US" dirty="0" err="1"/>
              <a:t>shape</a:t>
            </a:r>
            <a:r>
              <a:rPr lang="ko-KR" altLang="en-US" dirty="0"/>
              <a:t>: </a:t>
            </a:r>
            <a:r>
              <a:rPr lang="ko-KR" altLang="en-US" dirty="0" err="1"/>
              <a:t>torch.Size</a:t>
            </a:r>
            <a:r>
              <a:rPr lang="ko-KR" altLang="en-US" dirty="0"/>
              <a:t>([2, 8, 3, 224, 224])</a:t>
            </a:r>
          </a:p>
          <a:p>
            <a:r>
              <a:rPr lang="ko-KR" altLang="en-US" dirty="0" err="1"/>
              <a:t>backbone</a:t>
            </a:r>
            <a:r>
              <a:rPr lang="ko-KR" altLang="en-US" dirty="0"/>
              <a:t> </a:t>
            </a:r>
            <a:r>
              <a:rPr lang="ko-KR" altLang="en-US" dirty="0" err="1"/>
              <a:t>feature</a:t>
            </a:r>
            <a:r>
              <a:rPr lang="ko-KR" altLang="en-US" dirty="0"/>
              <a:t> </a:t>
            </a:r>
            <a:r>
              <a:rPr lang="ko-KR" altLang="en-US" dirty="0" err="1"/>
              <a:t>shape</a:t>
            </a:r>
            <a:r>
              <a:rPr lang="ko-KR" altLang="en-US" dirty="0"/>
              <a:t>: </a:t>
            </a:r>
            <a:r>
              <a:rPr lang="ko-KR" altLang="en-US" dirty="0" err="1"/>
              <a:t>torch.Size</a:t>
            </a:r>
            <a:r>
              <a:rPr lang="ko-KR" altLang="en-US" dirty="0"/>
              <a:t>([2, 8, 768])</a:t>
            </a:r>
          </a:p>
        </p:txBody>
      </p:sp>
    </p:spTree>
    <p:extLst>
      <p:ext uri="{BB962C8B-B14F-4D97-AF65-F5344CB8AC3E}">
        <p14:creationId xmlns:p14="http://schemas.microsoft.com/office/powerpoint/2010/main" val="12232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A3A4F-B5E5-AFDC-3312-0A8B53FE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70D34B-2C50-1A02-B22C-E4ED7DC60EC3}"/>
              </a:ext>
            </a:extLst>
          </p:cNvPr>
          <p:cNvSpPr txBox="1"/>
          <p:nvPr/>
        </p:nvSpPr>
        <p:spPr>
          <a:xfrm>
            <a:off x="286410" y="231618"/>
            <a:ext cx="504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Safety-aware anticipatory perception model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3AA4C-1F5D-F2EA-F412-3F5D745D3ABC}"/>
              </a:ext>
            </a:extLst>
          </p:cNvPr>
          <p:cNvSpPr txBox="1"/>
          <p:nvPr/>
        </p:nvSpPr>
        <p:spPr>
          <a:xfrm>
            <a:off x="845130" y="617054"/>
            <a:ext cx="3695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→ 미래를 고려한 안전 중심 인지 결과</a:t>
            </a:r>
            <a:endParaRPr lang="ko-KR" alt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327A67-1D17-840F-ED68-F07A5F6FF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65161"/>
          <a:stretch>
            <a:fillRect/>
          </a:stretch>
        </p:blipFill>
        <p:spPr>
          <a:xfrm>
            <a:off x="755072" y="1956089"/>
            <a:ext cx="3200400" cy="17222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304D9D-8938-6806-7624-2EB729D1C18A}"/>
              </a:ext>
            </a:extLst>
          </p:cNvPr>
          <p:cNvSpPr txBox="1"/>
          <p:nvPr/>
        </p:nvSpPr>
        <p:spPr>
          <a:xfrm>
            <a:off x="3213388" y="3140425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[B,8,768]→[B,8,D]→[B,D]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3E616-15C4-4F24-EBD4-737A4C0F6064}"/>
              </a:ext>
            </a:extLst>
          </p:cNvPr>
          <p:cNvSpPr txBox="1"/>
          <p:nvPr/>
        </p:nvSpPr>
        <p:spPr>
          <a:xfrm>
            <a:off x="854652" y="3926992"/>
            <a:ext cx="62813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1</a:t>
            </a:r>
            <a:r>
              <a:rPr lang="ko-KR" altLang="en-US" b="1" dirty="0"/>
              <a:t>번 추천</a:t>
            </a:r>
            <a:r>
              <a:rPr lang="en-US" altLang="ko-KR" b="1" dirty="0"/>
              <a:t>: Temporal Encoder</a:t>
            </a:r>
            <a:r>
              <a:rPr lang="ko-KR" altLang="en-US" b="1" dirty="0"/>
              <a:t>만 먼저 붙이기</a:t>
            </a:r>
          </a:p>
          <a:p>
            <a:pPr>
              <a:buNone/>
            </a:pPr>
            <a:r>
              <a:rPr lang="ko-KR" altLang="en-US" dirty="0"/>
              <a:t>이유</a:t>
            </a:r>
            <a:r>
              <a:rPr lang="en-US" altLang="ko-K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backbone </a:t>
            </a:r>
            <a:r>
              <a:rPr lang="ko-KR" altLang="en-US" dirty="0"/>
              <a:t>출력이 정상인지 이미 확인됨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이제 </a:t>
            </a:r>
            <a:r>
              <a:rPr lang="en-US" altLang="ko-KR" dirty="0"/>
              <a:t>temporal module shape</a:t>
            </a:r>
            <a:r>
              <a:rPr lang="ko-KR" altLang="en-US" dirty="0"/>
              <a:t>만 보면 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future predictor, event head</a:t>
            </a:r>
            <a:r>
              <a:rPr lang="ko-KR" altLang="en-US" dirty="0"/>
              <a:t>는 아직 안 붙여도 됨</a:t>
            </a:r>
          </a:p>
          <a:p>
            <a:pPr>
              <a:buNone/>
            </a:pPr>
            <a:r>
              <a:rPr lang="en-US" altLang="ko-KR" b="1" dirty="0"/>
              <a:t>2</a:t>
            </a:r>
            <a:r>
              <a:rPr lang="ko-KR" altLang="en-US" b="1" dirty="0"/>
              <a:t>번</a:t>
            </a:r>
            <a:r>
              <a:rPr lang="en-US" altLang="ko-KR" b="1" dirty="0"/>
              <a:t>: backbone + temporal encoder </a:t>
            </a:r>
            <a:r>
              <a:rPr lang="ko-KR" altLang="en-US" b="1" dirty="0"/>
              <a:t>통합 </a:t>
            </a:r>
            <a:r>
              <a:rPr lang="en-US" altLang="ko-KR" b="1" dirty="0"/>
              <a:t>debug</a:t>
            </a:r>
          </a:p>
          <a:p>
            <a:pPr>
              <a:buNone/>
            </a:pPr>
            <a:r>
              <a:rPr lang="ko-KR" altLang="en-US" dirty="0"/>
              <a:t>이것도 가능하지만</a:t>
            </a:r>
            <a:r>
              <a:rPr lang="en-US" altLang="ko-KR" dirty="0"/>
              <a:t>, </a:t>
            </a:r>
            <a:r>
              <a:rPr lang="ko-KR" altLang="en-US" dirty="0"/>
              <a:t>보통은 </a:t>
            </a:r>
            <a:r>
              <a:rPr lang="en-US" altLang="ko-KR" dirty="0"/>
              <a:t>temporal encoder </a:t>
            </a:r>
            <a:r>
              <a:rPr lang="ko-KR" altLang="en-US" dirty="0"/>
              <a:t>단독 클래스를 먼저 만든 뒤 붙이는 게 더 깔끔함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FA2C0C-E49A-4799-8DB0-390E585DCF36}"/>
              </a:ext>
            </a:extLst>
          </p:cNvPr>
          <p:cNvSpPr txBox="1"/>
          <p:nvPr/>
        </p:nvSpPr>
        <p:spPr>
          <a:xfrm>
            <a:off x="6744606" y="384141"/>
            <a:ext cx="62813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C:\Users\IIPL02\anaconda3\Lib\site-packages\torch\nn\modules\transformer.py:382: </a:t>
            </a:r>
            <a:r>
              <a:rPr lang="ko-KR" altLang="en-US" dirty="0" err="1"/>
              <a:t>UserWarning</a:t>
            </a:r>
            <a:r>
              <a:rPr lang="ko-KR" altLang="en-US" dirty="0"/>
              <a:t>: </a:t>
            </a:r>
            <a:r>
              <a:rPr lang="ko-KR" altLang="en-US" dirty="0" err="1"/>
              <a:t>enable_nested_tensor</a:t>
            </a:r>
            <a:r>
              <a:rPr lang="ko-KR" altLang="en-US" dirty="0"/>
              <a:t> </a:t>
            </a:r>
            <a:r>
              <a:rPr lang="ko-KR" altLang="en-US" dirty="0" err="1"/>
              <a:t>is</a:t>
            </a:r>
            <a:r>
              <a:rPr lang="ko-KR" altLang="en-US" dirty="0"/>
              <a:t> </a:t>
            </a:r>
            <a:r>
              <a:rPr lang="ko-KR" altLang="en-US" dirty="0" err="1"/>
              <a:t>True</a:t>
            </a:r>
            <a:r>
              <a:rPr lang="ko-KR" altLang="en-US" dirty="0"/>
              <a:t>, </a:t>
            </a:r>
            <a:r>
              <a:rPr lang="ko-KR" altLang="en-US" dirty="0" err="1"/>
              <a:t>but</a:t>
            </a:r>
            <a:r>
              <a:rPr lang="ko-KR" altLang="en-US" dirty="0"/>
              <a:t> </a:t>
            </a:r>
            <a:r>
              <a:rPr lang="ko-KR" altLang="en-US" dirty="0" err="1"/>
              <a:t>self.use_nested_tensor</a:t>
            </a:r>
            <a:r>
              <a:rPr lang="ko-KR" altLang="en-US" dirty="0"/>
              <a:t> </a:t>
            </a:r>
            <a:r>
              <a:rPr lang="ko-KR" altLang="en-US" dirty="0" err="1"/>
              <a:t>is</a:t>
            </a:r>
            <a:r>
              <a:rPr lang="ko-KR" altLang="en-US" dirty="0"/>
              <a:t> </a:t>
            </a:r>
            <a:r>
              <a:rPr lang="ko-KR" altLang="en-US" dirty="0" err="1"/>
              <a:t>False</a:t>
            </a:r>
            <a:r>
              <a:rPr lang="ko-KR" altLang="en-US" dirty="0"/>
              <a:t> </a:t>
            </a:r>
            <a:r>
              <a:rPr lang="ko-KR" altLang="en-US" dirty="0" err="1"/>
              <a:t>because</a:t>
            </a:r>
            <a:r>
              <a:rPr lang="ko-KR" altLang="en-US" dirty="0"/>
              <a:t> </a:t>
            </a:r>
            <a:r>
              <a:rPr lang="ko-KR" altLang="en-US" dirty="0" err="1"/>
              <a:t>encoder_layer.norm_first</a:t>
            </a:r>
            <a:r>
              <a:rPr lang="ko-KR" altLang="en-US" dirty="0"/>
              <a:t> </a:t>
            </a:r>
            <a:r>
              <a:rPr lang="ko-KR" altLang="en-US" dirty="0" err="1"/>
              <a:t>was</a:t>
            </a:r>
            <a:r>
              <a:rPr lang="ko-KR" altLang="en-US" dirty="0"/>
              <a:t> </a:t>
            </a:r>
            <a:r>
              <a:rPr lang="ko-KR" altLang="en-US" dirty="0" err="1"/>
              <a:t>True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warnings.warn</a:t>
            </a:r>
            <a:r>
              <a:rPr lang="ko-KR" altLang="en-US" dirty="0"/>
              <a:t>(</a:t>
            </a:r>
          </a:p>
          <a:p>
            <a:r>
              <a:rPr lang="ko-KR" altLang="en-US" dirty="0" err="1"/>
              <a:t>input</a:t>
            </a:r>
            <a:r>
              <a:rPr lang="ko-KR" altLang="en-US" dirty="0"/>
              <a:t> </a:t>
            </a:r>
            <a:r>
              <a:rPr lang="ko-KR" altLang="en-US" dirty="0" err="1"/>
              <a:t>video</a:t>
            </a:r>
            <a:r>
              <a:rPr lang="ko-KR" altLang="en-US" dirty="0"/>
              <a:t> </a:t>
            </a:r>
            <a:r>
              <a:rPr lang="ko-KR" altLang="en-US" dirty="0" err="1"/>
              <a:t>shape</a:t>
            </a:r>
            <a:r>
              <a:rPr lang="ko-KR" altLang="en-US" dirty="0"/>
              <a:t>   : </a:t>
            </a:r>
            <a:r>
              <a:rPr lang="ko-KR" altLang="en-US" dirty="0" err="1"/>
              <a:t>torch.Size</a:t>
            </a:r>
            <a:r>
              <a:rPr lang="ko-KR" altLang="en-US" dirty="0"/>
              <a:t>([2, 8, 3, 224, 224])</a:t>
            </a:r>
          </a:p>
          <a:p>
            <a:r>
              <a:rPr lang="ko-KR" altLang="en-US" dirty="0" err="1"/>
              <a:t>frame_feats</a:t>
            </a:r>
            <a:r>
              <a:rPr lang="ko-KR" altLang="en-US" dirty="0"/>
              <a:t> </a:t>
            </a:r>
            <a:r>
              <a:rPr lang="ko-KR" altLang="en-US" dirty="0" err="1"/>
              <a:t>shape</a:t>
            </a:r>
            <a:r>
              <a:rPr lang="ko-KR" altLang="en-US" dirty="0"/>
              <a:t>   : </a:t>
            </a:r>
            <a:r>
              <a:rPr lang="ko-KR" altLang="en-US" dirty="0" err="1"/>
              <a:t>torch.Size</a:t>
            </a:r>
            <a:r>
              <a:rPr lang="ko-KR" altLang="en-US" dirty="0"/>
              <a:t>([2, 8, 768])</a:t>
            </a:r>
          </a:p>
          <a:p>
            <a:r>
              <a:rPr lang="ko-KR" altLang="en-US" dirty="0" err="1"/>
              <a:t>seq_feats</a:t>
            </a:r>
            <a:r>
              <a:rPr lang="ko-KR" altLang="en-US" dirty="0"/>
              <a:t> </a:t>
            </a:r>
            <a:r>
              <a:rPr lang="ko-KR" altLang="en-US" dirty="0" err="1"/>
              <a:t>shape</a:t>
            </a:r>
            <a:r>
              <a:rPr lang="ko-KR" altLang="en-US" dirty="0"/>
              <a:t>     : </a:t>
            </a:r>
            <a:r>
              <a:rPr lang="ko-KR" altLang="en-US" dirty="0" err="1"/>
              <a:t>torch.Size</a:t>
            </a:r>
            <a:r>
              <a:rPr lang="ko-KR" altLang="en-US" dirty="0"/>
              <a:t>([2, 8, 768])</a:t>
            </a:r>
          </a:p>
          <a:p>
            <a:r>
              <a:rPr lang="ko-KR" altLang="en-US" dirty="0" err="1"/>
              <a:t>clip_feat</a:t>
            </a:r>
            <a:r>
              <a:rPr lang="ko-KR" altLang="en-US" dirty="0"/>
              <a:t> </a:t>
            </a:r>
            <a:r>
              <a:rPr lang="ko-KR" altLang="en-US" dirty="0" err="1"/>
              <a:t>shape</a:t>
            </a:r>
            <a:r>
              <a:rPr lang="ko-KR" altLang="en-US" dirty="0"/>
              <a:t>     : </a:t>
            </a:r>
            <a:r>
              <a:rPr lang="ko-KR" altLang="en-US" dirty="0" err="1"/>
              <a:t>torch.Size</a:t>
            </a:r>
            <a:r>
              <a:rPr lang="ko-KR" altLang="en-US" dirty="0"/>
              <a:t>([2, 768])</a:t>
            </a:r>
          </a:p>
          <a:p>
            <a:r>
              <a:rPr lang="ko-KR" altLang="en-US" dirty="0" err="1"/>
              <a:t>frame_feats</a:t>
            </a:r>
            <a:r>
              <a:rPr lang="ko-KR" altLang="en-US" dirty="0"/>
              <a:t> </a:t>
            </a:r>
            <a:r>
              <a:rPr lang="ko-KR" altLang="en-US" dirty="0" err="1"/>
              <a:t>dtype</a:t>
            </a:r>
            <a:r>
              <a:rPr lang="ko-KR" altLang="en-US" dirty="0"/>
              <a:t>   : torch.float32</a:t>
            </a:r>
          </a:p>
          <a:p>
            <a:r>
              <a:rPr lang="ko-KR" altLang="en-US" dirty="0" err="1"/>
              <a:t>seq_feats</a:t>
            </a:r>
            <a:r>
              <a:rPr lang="ko-KR" altLang="en-US" dirty="0"/>
              <a:t> </a:t>
            </a:r>
            <a:r>
              <a:rPr lang="ko-KR" altLang="en-US" dirty="0" err="1"/>
              <a:t>dtype</a:t>
            </a:r>
            <a:r>
              <a:rPr lang="ko-KR" altLang="en-US" dirty="0"/>
              <a:t>     : torch.float32</a:t>
            </a:r>
          </a:p>
          <a:p>
            <a:r>
              <a:rPr lang="ko-KR" altLang="en-US" dirty="0" err="1"/>
              <a:t>clip_feat</a:t>
            </a:r>
            <a:r>
              <a:rPr lang="ko-KR" altLang="en-US" dirty="0"/>
              <a:t> </a:t>
            </a:r>
            <a:r>
              <a:rPr lang="ko-KR" altLang="en-US" dirty="0" err="1"/>
              <a:t>dtype</a:t>
            </a:r>
            <a:r>
              <a:rPr lang="ko-KR" altLang="en-US" dirty="0"/>
              <a:t>     : torch.float32</a:t>
            </a:r>
          </a:p>
          <a:p>
            <a:r>
              <a:rPr lang="ko-KR" altLang="en-US" dirty="0" err="1"/>
              <a:t>frame_feats</a:t>
            </a:r>
            <a:r>
              <a:rPr lang="ko-KR" altLang="en-US" dirty="0"/>
              <a:t> </a:t>
            </a:r>
            <a:r>
              <a:rPr lang="ko-KR" altLang="en-US" dirty="0" err="1"/>
              <a:t>device</a:t>
            </a:r>
            <a:r>
              <a:rPr lang="ko-KR" altLang="en-US" dirty="0"/>
              <a:t>  : cuda:0</a:t>
            </a:r>
          </a:p>
          <a:p>
            <a:r>
              <a:rPr lang="ko-KR" altLang="en-US" dirty="0" err="1"/>
              <a:t>seq_feats</a:t>
            </a:r>
            <a:r>
              <a:rPr lang="ko-KR" altLang="en-US" dirty="0"/>
              <a:t> </a:t>
            </a:r>
            <a:r>
              <a:rPr lang="ko-KR" altLang="en-US" dirty="0" err="1"/>
              <a:t>device</a:t>
            </a:r>
            <a:r>
              <a:rPr lang="ko-KR" altLang="en-US" dirty="0"/>
              <a:t>    : cuda:0</a:t>
            </a:r>
          </a:p>
          <a:p>
            <a:r>
              <a:rPr lang="ko-KR" altLang="en-US" dirty="0" err="1"/>
              <a:t>clip_feat</a:t>
            </a:r>
            <a:r>
              <a:rPr lang="ko-KR" altLang="en-US" dirty="0"/>
              <a:t> </a:t>
            </a:r>
            <a:r>
              <a:rPr lang="ko-KR" altLang="en-US" dirty="0" err="1"/>
              <a:t>device</a:t>
            </a:r>
            <a:r>
              <a:rPr lang="ko-KR" altLang="en-US" dirty="0"/>
              <a:t>    : cuda:0</a:t>
            </a:r>
          </a:p>
        </p:txBody>
      </p:sp>
    </p:spTree>
    <p:extLst>
      <p:ext uri="{BB962C8B-B14F-4D97-AF65-F5344CB8AC3E}">
        <p14:creationId xmlns:p14="http://schemas.microsoft.com/office/powerpoint/2010/main" val="23822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6144DF8-AAE5-157D-63CF-4AE783B0A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65161"/>
          <a:stretch>
            <a:fillRect/>
          </a:stretch>
        </p:blipFill>
        <p:spPr>
          <a:xfrm>
            <a:off x="425464" y="839670"/>
            <a:ext cx="2154145" cy="11592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444FE4-9B3B-90CE-2647-759BA7B33324}"/>
              </a:ext>
            </a:extLst>
          </p:cNvPr>
          <p:cNvSpPr txBox="1"/>
          <p:nvPr/>
        </p:nvSpPr>
        <p:spPr>
          <a:xfrm>
            <a:off x="292237" y="213017"/>
            <a:ext cx="2745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Temporal Encoder </a:t>
            </a:r>
            <a:r>
              <a:rPr lang="ko-KR" altLang="en-US" sz="1600" b="1" dirty="0"/>
              <a:t>→ </a:t>
            </a:r>
            <a:r>
              <a:rPr lang="en-US" altLang="ko-KR" sz="1600" b="1" dirty="0"/>
              <a:t>train</a:t>
            </a:r>
            <a:endParaRPr lang="ko-KR" altLang="en-US" sz="16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FBE6144-D87F-2510-E998-A1DE7F5E36CF}"/>
              </a:ext>
            </a:extLst>
          </p:cNvPr>
          <p:cNvGrpSpPr/>
          <p:nvPr/>
        </p:nvGrpSpPr>
        <p:grpSpPr>
          <a:xfrm>
            <a:off x="3910849" y="2428124"/>
            <a:ext cx="3892221" cy="338554"/>
            <a:chOff x="359574" y="3066079"/>
            <a:chExt cx="3892221" cy="33855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6691E1-B6B7-D49C-DDE9-C151E3B5C226}"/>
                </a:ext>
              </a:extLst>
            </p:cNvPr>
            <p:cNvSpPr txBox="1"/>
            <p:nvPr/>
          </p:nvSpPr>
          <p:spPr>
            <a:xfrm>
              <a:off x="359574" y="3066079"/>
              <a:ext cx="8835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600" b="1" dirty="0"/>
                <a:t>백본</a:t>
              </a:r>
              <a:endParaRPr lang="ko-KR" altLang="en-US" sz="16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64568B-6DAE-123A-8F66-1CBB7FB919C7}"/>
                </a:ext>
              </a:extLst>
            </p:cNvPr>
            <p:cNvSpPr txBox="1"/>
            <p:nvPr/>
          </p:nvSpPr>
          <p:spPr>
            <a:xfrm>
              <a:off x="1096764" y="3101520"/>
              <a:ext cx="31550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 </a:t>
              </a:r>
              <a:r>
                <a:rPr lang="en-US" altLang="ko-KR" sz="1200" dirty="0"/>
                <a:t>: </a:t>
              </a:r>
              <a:r>
                <a:rPr lang="ko-KR" altLang="en-US" sz="1200" dirty="0"/>
                <a:t>각 프레임을 따로 분석 </a:t>
              </a:r>
              <a:r>
                <a:rPr lang="en-US" altLang="ko-KR" sz="1200" dirty="0"/>
                <a:t>(</a:t>
              </a:r>
              <a:r>
                <a:rPr lang="ko-KR" altLang="en-US" sz="1200" dirty="0"/>
                <a:t>시간정보는 모름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9E6D5F4-A7C0-0BEE-3444-197C7ACC453D}"/>
              </a:ext>
            </a:extLst>
          </p:cNvPr>
          <p:cNvGrpSpPr/>
          <p:nvPr/>
        </p:nvGrpSpPr>
        <p:grpSpPr>
          <a:xfrm>
            <a:off x="3967555" y="4132878"/>
            <a:ext cx="6467249" cy="338554"/>
            <a:chOff x="320588" y="3973390"/>
            <a:chExt cx="6467249" cy="33855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9D9E89-9E6D-6216-9408-63456DD4C82A}"/>
                </a:ext>
              </a:extLst>
            </p:cNvPr>
            <p:cNvSpPr txBox="1"/>
            <p:nvPr/>
          </p:nvSpPr>
          <p:spPr>
            <a:xfrm>
              <a:off x="320588" y="3973390"/>
              <a:ext cx="22322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/>
                <a:t>Temporal Encoder</a:t>
              </a:r>
              <a:endParaRPr lang="ko-KR" altLang="en-US" sz="1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A71D375-F308-EEDF-500F-23E3214DD5F1}"/>
                </a:ext>
              </a:extLst>
            </p:cNvPr>
            <p:cNvSpPr txBox="1"/>
            <p:nvPr/>
          </p:nvSpPr>
          <p:spPr>
            <a:xfrm>
              <a:off x="2408112" y="4019464"/>
              <a:ext cx="43797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 </a:t>
              </a:r>
              <a:r>
                <a:rPr lang="en-US" altLang="ko-KR" sz="1200" dirty="0"/>
                <a:t>: </a:t>
              </a:r>
              <a:r>
                <a:rPr lang="ko-KR" altLang="en-US" sz="1200" dirty="0"/>
                <a:t>프레임들 사이 관계 학습 → </a:t>
              </a:r>
              <a:r>
                <a:rPr lang="en-US" altLang="ko-KR" sz="1200" dirty="0"/>
                <a:t>8</a:t>
              </a:r>
              <a:r>
                <a:rPr lang="ko-KR" altLang="en-US" sz="1200" dirty="0"/>
                <a:t>프레임의 상황을 요약한 벡터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34A1CA3-A41C-AB14-A55D-FBDFA9D8986A}"/>
              </a:ext>
            </a:extLst>
          </p:cNvPr>
          <p:cNvGrpSpPr/>
          <p:nvPr/>
        </p:nvGrpSpPr>
        <p:grpSpPr>
          <a:xfrm>
            <a:off x="4527534" y="5150058"/>
            <a:ext cx="3614171" cy="834541"/>
            <a:chOff x="880567" y="5213855"/>
            <a:chExt cx="3614171" cy="83454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81810C-AB77-AF88-22AA-527E33609DF8}"/>
                </a:ext>
              </a:extLst>
            </p:cNvPr>
            <p:cNvSpPr txBox="1"/>
            <p:nvPr/>
          </p:nvSpPr>
          <p:spPr>
            <a:xfrm>
              <a:off x="880567" y="5213855"/>
              <a:ext cx="10502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f1, f2, …. , f8</a:t>
              </a:r>
              <a:endParaRPr lang="ko-KR" altLang="en-US" sz="1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9C53DB-24F3-BD15-FE7E-3E9C781F5D0E}"/>
                </a:ext>
              </a:extLst>
            </p:cNvPr>
            <p:cNvSpPr txBox="1"/>
            <p:nvPr/>
          </p:nvSpPr>
          <p:spPr>
            <a:xfrm>
              <a:off x="1883572" y="5228031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→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A341E3-193D-7845-DB52-A0190D8BBAFB}"/>
                </a:ext>
              </a:extLst>
            </p:cNvPr>
            <p:cNvSpPr txBox="1"/>
            <p:nvPr/>
          </p:nvSpPr>
          <p:spPr>
            <a:xfrm>
              <a:off x="2181284" y="5217399"/>
              <a:ext cx="231345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/>
                <a:t>사람이 움직이는지</a:t>
              </a:r>
              <a:endParaRPr lang="en-US" altLang="ko-KR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/>
                <a:t>차가 멈추는지</a:t>
              </a:r>
              <a:endParaRPr lang="en-US" altLang="ko-KR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/>
                <a:t>보행자가 도로로 들어오는지</a:t>
              </a:r>
              <a:endParaRPr lang="en-US" altLang="ko-KR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dirty="0"/>
                <a:t>상황이 변하는지</a:t>
              </a: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E3A12FAD-485B-DFD5-A359-2616915C4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763" y="383540"/>
            <a:ext cx="2735559" cy="25306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6FAB80B-0C58-4FA6-897F-D97333743EEB}"/>
              </a:ext>
            </a:extLst>
          </p:cNvPr>
          <p:cNvSpPr txBox="1"/>
          <p:nvPr/>
        </p:nvSpPr>
        <p:spPr>
          <a:xfrm>
            <a:off x="558047" y="2461160"/>
            <a:ext cx="2334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Frame 1: </a:t>
            </a:r>
            <a:r>
              <a:rPr lang="ko-KR" altLang="en-US" sz="1200" dirty="0"/>
              <a:t>보행자가 인도에 있음</a:t>
            </a:r>
            <a:endParaRPr lang="en-US" altLang="ko-KR" sz="1200" dirty="0"/>
          </a:p>
          <a:p>
            <a:r>
              <a:rPr lang="en-US" altLang="ko-KR" sz="1200" dirty="0"/>
              <a:t>Frame 2: </a:t>
            </a:r>
            <a:r>
              <a:rPr lang="ko-KR" altLang="en-US" sz="1200" dirty="0"/>
              <a:t>조금 앞으로 이동</a:t>
            </a:r>
            <a:endParaRPr lang="en-US" altLang="ko-KR" sz="1200" dirty="0"/>
          </a:p>
          <a:p>
            <a:r>
              <a:rPr lang="en-US" altLang="ko-KR" sz="1200" dirty="0"/>
              <a:t>Frame 3: </a:t>
            </a:r>
            <a:r>
              <a:rPr lang="ko-KR" altLang="en-US" sz="1200" dirty="0"/>
              <a:t>도로 가까이</a:t>
            </a:r>
            <a:endParaRPr lang="en-US" altLang="ko-KR" sz="1200" dirty="0"/>
          </a:p>
          <a:p>
            <a:r>
              <a:rPr lang="en-US" altLang="ko-KR" sz="1200" dirty="0"/>
              <a:t>Frame 4: </a:t>
            </a:r>
            <a:r>
              <a:rPr lang="ko-KR" altLang="en-US" sz="1200" dirty="0"/>
              <a:t>도로 진입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864AA0-9557-D099-F53B-4804ACB8C3E2}"/>
              </a:ext>
            </a:extLst>
          </p:cNvPr>
          <p:cNvSpPr txBox="1"/>
          <p:nvPr/>
        </p:nvSpPr>
        <p:spPr>
          <a:xfrm>
            <a:off x="4392857" y="2822391"/>
            <a:ext cx="13756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frame 1 : </a:t>
            </a:r>
            <a:r>
              <a:rPr lang="ko-KR" altLang="en-US" sz="1200" dirty="0"/>
              <a:t>사람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frame 2 : </a:t>
            </a:r>
            <a:r>
              <a:rPr lang="ko-KR" altLang="en-US" sz="1200" dirty="0"/>
              <a:t>사람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frame 3 : </a:t>
            </a:r>
            <a:r>
              <a:rPr lang="ko-KR" altLang="en-US" sz="1200" dirty="0"/>
              <a:t>사람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frame 4 : </a:t>
            </a:r>
            <a:r>
              <a:rPr lang="ko-KR" altLang="en-US" sz="1200" dirty="0"/>
              <a:t>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DFA300-39C2-25EF-C267-65AF78AB419A}"/>
              </a:ext>
            </a:extLst>
          </p:cNvPr>
          <p:cNvSpPr txBox="1"/>
          <p:nvPr/>
        </p:nvSpPr>
        <p:spPr>
          <a:xfrm>
            <a:off x="4550180" y="4548410"/>
            <a:ext cx="2367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사람이 도로로 들어오고 있음</a:t>
            </a:r>
            <a:endParaRPr lang="en-US" altLang="ko-KR" sz="1200" dirty="0"/>
          </a:p>
          <a:p>
            <a:r>
              <a:rPr lang="ko-KR" altLang="en-US" sz="1200" dirty="0"/>
              <a:t>→ </a:t>
            </a:r>
            <a:r>
              <a:rPr lang="en-US" altLang="ko-KR" sz="1200" dirty="0"/>
              <a:t>crossing </a:t>
            </a:r>
            <a:r>
              <a:rPr lang="ko-KR" altLang="en-US" sz="1200" dirty="0"/>
              <a:t>가능성 높음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032029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11D55AC-7646-C7D7-4321-70211DC6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773" y="623981"/>
            <a:ext cx="3604346" cy="21685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46AA1C-6908-44C6-A183-035416F2F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852" y="133350"/>
            <a:ext cx="4381500" cy="32956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D23FFD1-8846-F0DF-6856-01664798F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729" y="3643264"/>
            <a:ext cx="3539573" cy="227196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5500A0-4C96-6BFE-BA8D-73878E2B9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195" y="3429000"/>
            <a:ext cx="2671877" cy="317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21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EA068FA-15DE-AC54-7181-F2B6C530599E}"/>
              </a:ext>
            </a:extLst>
          </p:cNvPr>
          <p:cNvSpPr txBox="1"/>
          <p:nvPr/>
        </p:nvSpPr>
        <p:spPr>
          <a:xfrm>
            <a:off x="-5448300" y="-1390651"/>
            <a:ext cx="5810250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Video</a:t>
            </a:r>
            <a:r>
              <a:rPr lang="ko-KR" altLang="en-US" dirty="0"/>
              <a:t> </a:t>
            </a:r>
            <a:r>
              <a:rPr lang="ko-KR" altLang="en-US" dirty="0" err="1"/>
              <a:t>Clip</a:t>
            </a:r>
            <a:endParaRPr lang="ko-KR" altLang="en-US" dirty="0"/>
          </a:p>
          <a:p>
            <a:r>
              <a:rPr lang="ko-KR" altLang="en-US" dirty="0"/>
              <a:t>(t-7 ... </a:t>
            </a:r>
            <a:r>
              <a:rPr lang="ko-KR" altLang="en-US" dirty="0" err="1"/>
              <a:t>t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│</a:t>
            </a:r>
          </a:p>
          <a:p>
            <a:r>
              <a:rPr lang="ko-KR" altLang="en-US" dirty="0"/>
              <a:t>     ▼</a:t>
            </a:r>
          </a:p>
          <a:p>
            <a:r>
              <a:rPr lang="ko-KR" altLang="en-US" dirty="0"/>
              <a:t>┌──────────────────────┐</a:t>
            </a:r>
          </a:p>
          <a:p>
            <a:r>
              <a:rPr lang="ko-KR" altLang="en-US" dirty="0"/>
              <a:t>│   </a:t>
            </a:r>
            <a:r>
              <a:rPr lang="ko-KR" altLang="en-US" dirty="0" err="1"/>
              <a:t>Spatial</a:t>
            </a:r>
            <a:r>
              <a:rPr lang="ko-KR" altLang="en-US" dirty="0"/>
              <a:t> </a:t>
            </a:r>
            <a:r>
              <a:rPr lang="ko-KR" altLang="en-US" dirty="0" err="1"/>
              <a:t>Backbone</a:t>
            </a:r>
            <a:r>
              <a:rPr lang="ko-KR" altLang="en-US" dirty="0"/>
              <a:t>   │</a:t>
            </a:r>
          </a:p>
          <a:p>
            <a:r>
              <a:rPr lang="ko-KR" altLang="en-US" dirty="0"/>
              <a:t>│     (ConvNeXtV2)     │</a:t>
            </a:r>
          </a:p>
          <a:p>
            <a:r>
              <a:rPr lang="ko-KR" altLang="en-US" dirty="0"/>
              <a:t>└──────────────────────┘</a:t>
            </a:r>
          </a:p>
          <a:p>
            <a:r>
              <a:rPr lang="ko-KR" altLang="en-US" dirty="0"/>
              <a:t>     │</a:t>
            </a:r>
          </a:p>
          <a:p>
            <a:r>
              <a:rPr lang="ko-KR" altLang="en-US" dirty="0"/>
              <a:t>     ▼</a:t>
            </a:r>
          </a:p>
          <a:p>
            <a:r>
              <a:rPr lang="ko-KR" altLang="en-US" dirty="0"/>
              <a:t>┌──────────────────────┐</a:t>
            </a:r>
          </a:p>
          <a:p>
            <a:r>
              <a:rPr lang="ko-KR" altLang="en-US" dirty="0"/>
              <a:t>│    </a:t>
            </a:r>
            <a:r>
              <a:rPr lang="ko-KR" altLang="en-US" dirty="0" err="1"/>
              <a:t>Temporal</a:t>
            </a:r>
            <a:r>
              <a:rPr lang="ko-KR" altLang="en-US" dirty="0"/>
              <a:t> </a:t>
            </a:r>
            <a:r>
              <a:rPr lang="ko-KR" altLang="en-US" dirty="0" err="1"/>
              <a:t>Encoder</a:t>
            </a:r>
            <a:r>
              <a:rPr lang="ko-KR" altLang="en-US" dirty="0"/>
              <a:t>  │</a:t>
            </a:r>
          </a:p>
          <a:p>
            <a:r>
              <a:rPr lang="ko-KR" altLang="en-US" dirty="0"/>
              <a:t>│ (</a:t>
            </a:r>
            <a:r>
              <a:rPr lang="ko-KR" altLang="en-US" dirty="0" err="1"/>
              <a:t>Transformer</a:t>
            </a:r>
            <a:r>
              <a:rPr lang="ko-KR" altLang="en-US" dirty="0"/>
              <a:t> + </a:t>
            </a:r>
            <a:r>
              <a:rPr lang="ko-KR" altLang="en-US" dirty="0" err="1"/>
              <a:t>Mamba</a:t>
            </a:r>
            <a:r>
              <a:rPr lang="ko-KR" altLang="en-US" dirty="0"/>
              <a:t>)│</a:t>
            </a:r>
          </a:p>
          <a:p>
            <a:r>
              <a:rPr lang="ko-KR" altLang="en-US" dirty="0"/>
              <a:t>└──────────────────────┘</a:t>
            </a:r>
          </a:p>
          <a:p>
            <a:r>
              <a:rPr lang="ko-KR" altLang="en-US" dirty="0"/>
              <a:t>     │</a:t>
            </a:r>
          </a:p>
          <a:p>
            <a:r>
              <a:rPr lang="ko-KR" altLang="en-US" dirty="0"/>
              <a:t>     ▼</a:t>
            </a:r>
          </a:p>
          <a:p>
            <a:r>
              <a:rPr lang="ko-KR" altLang="en-US" dirty="0"/>
              <a:t>┌──────────────────────┐</a:t>
            </a:r>
          </a:p>
          <a:p>
            <a:r>
              <a:rPr lang="ko-KR" altLang="en-US" dirty="0"/>
              <a:t>│ </a:t>
            </a:r>
            <a:r>
              <a:rPr lang="ko-KR" altLang="en-US" dirty="0" err="1"/>
              <a:t>Multi</a:t>
            </a:r>
            <a:r>
              <a:rPr lang="ko-KR" altLang="en-US" dirty="0"/>
              <a:t>-Future </a:t>
            </a:r>
            <a:r>
              <a:rPr lang="ko-KR" altLang="en-US" dirty="0" err="1"/>
              <a:t>Predictor</a:t>
            </a:r>
            <a:r>
              <a:rPr lang="ko-KR" altLang="en-US" dirty="0"/>
              <a:t>│</a:t>
            </a:r>
          </a:p>
          <a:p>
            <a:r>
              <a:rPr lang="ko-KR" altLang="en-US" dirty="0"/>
              <a:t>└──────────────────────┘</a:t>
            </a:r>
          </a:p>
          <a:p>
            <a:r>
              <a:rPr lang="ko-KR" altLang="en-US" dirty="0"/>
              <a:t>     │</a:t>
            </a:r>
          </a:p>
          <a:p>
            <a:r>
              <a:rPr lang="ko-KR" altLang="en-US" dirty="0"/>
              <a:t>     ▼</a:t>
            </a:r>
          </a:p>
          <a:p>
            <a:r>
              <a:rPr lang="ko-KR" altLang="en-US" dirty="0"/>
              <a:t>   ┌───┬───┬───┐</a:t>
            </a:r>
          </a:p>
          <a:p>
            <a:r>
              <a:rPr lang="ko-KR" altLang="en-US" dirty="0"/>
              <a:t>   ▼   ▼   ▼   ▼</a:t>
            </a:r>
          </a:p>
          <a:p>
            <a:r>
              <a:rPr lang="ko-KR" altLang="en-US" dirty="0"/>
              <a:t> Future1 Future2 ... </a:t>
            </a:r>
            <a:r>
              <a:rPr lang="ko-KR" altLang="en-US" dirty="0" err="1"/>
              <a:t>FutureK</a:t>
            </a:r>
            <a:endParaRPr lang="ko-KR" altLang="en-US" dirty="0"/>
          </a:p>
          <a:p>
            <a:r>
              <a:rPr lang="ko-KR" altLang="en-US" dirty="0"/>
              <a:t>     │</a:t>
            </a:r>
          </a:p>
          <a:p>
            <a:r>
              <a:rPr lang="ko-KR" altLang="en-US" dirty="0"/>
              <a:t>     ▼</a:t>
            </a:r>
          </a:p>
          <a:p>
            <a:r>
              <a:rPr lang="ko-KR" altLang="en-US" dirty="0"/>
              <a:t>┌──────────────────────┐</a:t>
            </a:r>
          </a:p>
          <a:p>
            <a:r>
              <a:rPr lang="ko-KR" altLang="en-US" dirty="0"/>
              <a:t>│     </a:t>
            </a:r>
            <a:r>
              <a:rPr lang="ko-KR" altLang="en-US" dirty="0" err="1"/>
              <a:t>Prediction</a:t>
            </a:r>
            <a:r>
              <a:rPr lang="ko-KR" altLang="en-US" dirty="0"/>
              <a:t> </a:t>
            </a:r>
            <a:r>
              <a:rPr lang="ko-KR" altLang="en-US" dirty="0" err="1"/>
              <a:t>Head</a:t>
            </a:r>
            <a:r>
              <a:rPr lang="ko-KR" altLang="en-US" dirty="0"/>
              <a:t>  │</a:t>
            </a:r>
          </a:p>
          <a:p>
            <a:r>
              <a:rPr lang="ko-KR" altLang="en-US" dirty="0"/>
              <a:t>│   (</a:t>
            </a:r>
            <a:r>
              <a:rPr lang="ko-KR" altLang="en-US" dirty="0" err="1"/>
              <a:t>Event</a:t>
            </a:r>
            <a:r>
              <a:rPr lang="ko-KR" altLang="en-US" dirty="0"/>
              <a:t> / </a:t>
            </a:r>
            <a:r>
              <a:rPr lang="ko-KR" altLang="en-US" dirty="0" err="1"/>
              <a:t>Risk</a:t>
            </a:r>
            <a:r>
              <a:rPr lang="ko-KR" altLang="en-US" dirty="0"/>
              <a:t>)     │</a:t>
            </a:r>
          </a:p>
          <a:p>
            <a:r>
              <a:rPr lang="ko-KR" altLang="en-US" dirty="0"/>
              <a:t>└──────────────────────┘</a:t>
            </a:r>
          </a:p>
          <a:p>
            <a:r>
              <a:rPr lang="ko-KR" altLang="en-US" dirty="0"/>
              <a:t>     │</a:t>
            </a:r>
          </a:p>
          <a:p>
            <a:r>
              <a:rPr lang="ko-KR" altLang="en-US" dirty="0"/>
              <a:t>     ▼</a:t>
            </a:r>
          </a:p>
          <a:p>
            <a:r>
              <a:rPr lang="ko-KR" altLang="en-US" dirty="0"/>
              <a:t>┌──────────────────────┐</a:t>
            </a:r>
          </a:p>
          <a:p>
            <a:r>
              <a:rPr lang="ko-KR" altLang="en-US" dirty="0"/>
              <a:t>│    </a:t>
            </a:r>
            <a:r>
              <a:rPr lang="ko-KR" altLang="en-US" dirty="0" err="1"/>
              <a:t>Final</a:t>
            </a:r>
            <a:r>
              <a:rPr lang="ko-KR" altLang="en-US" dirty="0"/>
              <a:t> </a:t>
            </a:r>
            <a:r>
              <a:rPr lang="ko-KR" altLang="en-US" dirty="0" err="1"/>
              <a:t>Decision</a:t>
            </a:r>
            <a:r>
              <a:rPr lang="ko-KR" altLang="en-US" dirty="0"/>
              <a:t>    │</a:t>
            </a:r>
          </a:p>
          <a:p>
            <a:r>
              <a:rPr lang="ko-KR" altLang="en-US" dirty="0"/>
              <a:t>│   </a:t>
            </a:r>
            <a:r>
              <a:rPr lang="ko-KR" altLang="en-US" dirty="0" err="1"/>
              <a:t>Safety</a:t>
            </a:r>
            <a:r>
              <a:rPr lang="ko-KR" altLang="en-US" dirty="0"/>
              <a:t> </a:t>
            </a:r>
            <a:r>
              <a:rPr lang="ko-KR" altLang="en-US" dirty="0" err="1"/>
              <a:t>Prediction</a:t>
            </a:r>
            <a:r>
              <a:rPr lang="ko-KR" altLang="en-US" dirty="0"/>
              <a:t>  │</a:t>
            </a:r>
          </a:p>
          <a:p>
            <a:r>
              <a:rPr lang="ko-KR" altLang="en-US" dirty="0"/>
              <a:t>└──────────────────────┘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87B5FF5C-FBD8-3A78-9EB4-249CF13F7044}"/>
              </a:ext>
            </a:extLst>
          </p:cNvPr>
          <p:cNvGrpSpPr/>
          <p:nvPr/>
        </p:nvGrpSpPr>
        <p:grpSpPr>
          <a:xfrm>
            <a:off x="684361" y="735521"/>
            <a:ext cx="7484279" cy="3338004"/>
            <a:chOff x="684361" y="735521"/>
            <a:chExt cx="7484279" cy="3338004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C7BAE3F-5A40-B6A0-CE7E-3524B40F6F53}"/>
                </a:ext>
              </a:extLst>
            </p:cNvPr>
            <p:cNvGrpSpPr/>
            <p:nvPr/>
          </p:nvGrpSpPr>
          <p:grpSpPr>
            <a:xfrm>
              <a:off x="684361" y="735521"/>
              <a:ext cx="1246040" cy="769429"/>
              <a:chOff x="2919560" y="2710371"/>
              <a:chExt cx="1595063" cy="953579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C8B74491-5E85-23C6-5BF6-E9A6E5577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19560" y="2710371"/>
                <a:ext cx="1480763" cy="8329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F8DBCCB7-036E-921D-EB95-0DF397513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51310" y="2742121"/>
                <a:ext cx="1480763" cy="8329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4359A7F3-2B0B-D445-81C6-149CDCD752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89410" y="2786571"/>
                <a:ext cx="1480763" cy="8329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97D45795-BE01-65FC-D3C8-5028447DA7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33860" y="2831021"/>
                <a:ext cx="1480763" cy="8329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045EFB69-B97D-7AA0-D2AF-DDE4A65C9E73}"/>
                </a:ext>
              </a:extLst>
            </p:cNvPr>
            <p:cNvCxnSpPr>
              <a:cxnSpLocks/>
              <a:stCxn id="8" idx="3"/>
              <a:endCxn id="25" idx="1"/>
            </p:cNvCxnSpPr>
            <p:nvPr/>
          </p:nvCxnSpPr>
          <p:spPr>
            <a:xfrm flipV="1">
              <a:off x="1930401" y="1166813"/>
              <a:ext cx="393699" cy="20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E29B1E4-15D5-6A4C-47C7-888103F5736F}"/>
                </a:ext>
              </a:extLst>
            </p:cNvPr>
            <p:cNvSpPr/>
            <p:nvPr/>
          </p:nvSpPr>
          <p:spPr>
            <a:xfrm>
              <a:off x="2324100" y="933450"/>
              <a:ext cx="1476375" cy="46672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b="1" dirty="0">
                  <a:solidFill>
                    <a:schemeClr val="tx1"/>
                  </a:solidFill>
                </a:rPr>
                <a:t>Spatial Backbone</a:t>
              </a:r>
            </a:p>
            <a:p>
              <a:pPr algn="ctr"/>
              <a:r>
                <a:rPr lang="en-US" altLang="ko-KR" sz="1050" b="1" dirty="0">
                  <a:solidFill>
                    <a:schemeClr val="tx1"/>
                  </a:solidFill>
                </a:rPr>
                <a:t>(</a:t>
              </a:r>
              <a:r>
                <a:rPr lang="en-US" altLang="ko-KR" sz="1050" b="1" dirty="0" err="1">
                  <a:solidFill>
                    <a:schemeClr val="tx1"/>
                  </a:solidFill>
                </a:rPr>
                <a:t>ConvNeXt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V2)</a:t>
              </a:r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9F8D02C-A6D4-F4DF-21D3-9465FC567C12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 flipV="1">
              <a:off x="3806826" y="1166813"/>
              <a:ext cx="393699" cy="20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6E556030-9809-4B16-4789-B5037AEAEF14}"/>
                </a:ext>
              </a:extLst>
            </p:cNvPr>
            <p:cNvSpPr/>
            <p:nvPr/>
          </p:nvSpPr>
          <p:spPr>
            <a:xfrm>
              <a:off x="4200525" y="933450"/>
              <a:ext cx="1476375" cy="46672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Hybrid Temporal Encoder</a:t>
              </a:r>
            </a:p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(Transformer + Mamba)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8D3B6B95-FD41-6AD8-3922-8DA1F8DE710D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flipV="1">
              <a:off x="5694681" y="1166813"/>
              <a:ext cx="393699" cy="20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73859922-2D6A-A83A-204A-4F7EEC605C9D}"/>
                </a:ext>
              </a:extLst>
            </p:cNvPr>
            <p:cNvSpPr/>
            <p:nvPr/>
          </p:nvSpPr>
          <p:spPr>
            <a:xfrm>
              <a:off x="6088380" y="933450"/>
              <a:ext cx="1476375" cy="46672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Multi-Future Predictor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1FF63627-5E1F-5666-3840-34426BA157FF}"/>
                </a:ext>
              </a:extLst>
            </p:cNvPr>
            <p:cNvGrpSpPr/>
            <p:nvPr/>
          </p:nvGrpSpPr>
          <p:grpSpPr>
            <a:xfrm>
              <a:off x="5956300" y="1400175"/>
              <a:ext cx="1787525" cy="739775"/>
              <a:chOff x="5981700" y="1489075"/>
              <a:chExt cx="1787525" cy="739775"/>
            </a:xfrm>
          </p:grpSpPr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3938F86D-2479-75A9-37B9-3012D941FF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1700" y="1733550"/>
                <a:ext cx="17875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5C33ADC7-AEAD-2666-F424-DC0B683430A3}"/>
                  </a:ext>
                </a:extLst>
              </p:cNvPr>
              <p:cNvCxnSpPr/>
              <p:nvPr/>
            </p:nvCxnSpPr>
            <p:spPr>
              <a:xfrm>
                <a:off x="5994400" y="1739900"/>
                <a:ext cx="0" cy="4889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CA306652-1749-7BDC-89EA-B8B067F3D3DD}"/>
                  </a:ext>
                </a:extLst>
              </p:cNvPr>
              <p:cNvCxnSpPr>
                <a:cxnSpLocks/>
                <a:stCxn id="30" idx="2"/>
              </p:cNvCxnSpPr>
              <p:nvPr/>
            </p:nvCxnSpPr>
            <p:spPr>
              <a:xfrm flipH="1">
                <a:off x="6851650" y="1489075"/>
                <a:ext cx="318" cy="7397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2AC931CF-9B60-63D0-7D8A-718AE188AA01}"/>
                  </a:ext>
                </a:extLst>
              </p:cNvPr>
              <p:cNvCxnSpPr/>
              <p:nvPr/>
            </p:nvCxnSpPr>
            <p:spPr>
              <a:xfrm>
                <a:off x="7759700" y="1739900"/>
                <a:ext cx="0" cy="4889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19367E7-1186-9FAD-1005-64151760D412}"/>
                </a:ext>
              </a:extLst>
            </p:cNvPr>
            <p:cNvSpPr txBox="1"/>
            <p:nvPr/>
          </p:nvSpPr>
          <p:spPr>
            <a:xfrm>
              <a:off x="6417734" y="2146301"/>
              <a:ext cx="799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Future 2</a:t>
              </a:r>
              <a:endParaRPr lang="ko-KR" altLang="en-US" sz="1200" b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54A96D-7EE4-93CC-C9EA-68AE1520F6AF}"/>
                </a:ext>
              </a:extLst>
            </p:cNvPr>
            <p:cNvSpPr txBox="1"/>
            <p:nvPr/>
          </p:nvSpPr>
          <p:spPr>
            <a:xfrm>
              <a:off x="5575301" y="2146301"/>
              <a:ext cx="799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Future 1</a:t>
              </a:r>
              <a:endParaRPr lang="ko-KR" altLang="en-US" sz="1200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DB1EDBA-10DF-000D-70A0-7B293A1754DA}"/>
                </a:ext>
              </a:extLst>
            </p:cNvPr>
            <p:cNvSpPr txBox="1"/>
            <p:nvPr/>
          </p:nvSpPr>
          <p:spPr>
            <a:xfrm>
              <a:off x="7302501" y="2146301"/>
              <a:ext cx="8090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Future K</a:t>
              </a:r>
              <a:endParaRPr lang="ko-KR" altLang="en-US" sz="1200" b="1" dirty="0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7D8917EC-F118-70C8-55E6-575F9D933F00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flipH="1">
              <a:off x="6812280" y="2423300"/>
              <a:ext cx="5179" cy="3148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0D9C0F9-DB93-C4BC-8BC1-619EF9D64F20}"/>
                </a:ext>
              </a:extLst>
            </p:cNvPr>
            <p:cNvSpPr/>
            <p:nvPr/>
          </p:nvSpPr>
          <p:spPr>
            <a:xfrm>
              <a:off x="5609168" y="2787650"/>
              <a:ext cx="2559472" cy="46672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Event / Risk Head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F4332BF3-6FFA-6068-9FD3-8838901A9E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2280" y="3242450"/>
              <a:ext cx="5179" cy="3148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1947358C-9DEE-5439-A29F-38DE92733393}"/>
                </a:ext>
              </a:extLst>
            </p:cNvPr>
            <p:cNvSpPr/>
            <p:nvPr/>
          </p:nvSpPr>
          <p:spPr>
            <a:xfrm>
              <a:off x="6088380" y="3606800"/>
              <a:ext cx="1476375" cy="466725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Final Safety Prediction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BD823A5C-B228-EE28-B413-2D4B715A16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8840" y="2423300"/>
              <a:ext cx="5179" cy="3148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E473324A-4276-1C65-A2A4-AE2FF765D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1920" y="2423300"/>
              <a:ext cx="5179" cy="3148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4AA53E3-D015-279E-3B64-AD8C04B3B1D0}"/>
                </a:ext>
              </a:extLst>
            </p:cNvPr>
            <p:cNvSpPr txBox="1"/>
            <p:nvPr/>
          </p:nvSpPr>
          <p:spPr>
            <a:xfrm>
              <a:off x="918211" y="1544321"/>
              <a:ext cx="9364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Video Clip</a:t>
              </a:r>
            </a:p>
            <a:p>
              <a:pPr algn="ctr"/>
              <a:r>
                <a:rPr lang="en-US" altLang="ko-KR" sz="1200" b="1" dirty="0"/>
                <a:t>(8 frames)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47211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10394</TotalTime>
  <Words>692</Words>
  <Application>Microsoft Office PowerPoint</Application>
  <PresentationFormat>와이드스크린</PresentationFormat>
  <Paragraphs>128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YoonSeungHyun</dc:creator>
  <cp:lastModifiedBy>YoonSeungHyun</cp:lastModifiedBy>
  <cp:revision>100</cp:revision>
  <dcterms:created xsi:type="dcterms:W3CDTF">2026-03-06T05:49:21Z</dcterms:created>
  <dcterms:modified xsi:type="dcterms:W3CDTF">2026-03-17T06:41:03Z</dcterms:modified>
</cp:coreProperties>
</file>